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Control probe: at [/INST] token, right before participant generates. Reading probe: at end of appended suffix 'I think the conversation partner of this user is'. Both extract from a single token position, but transformer attention means the entire conversation context is compressed into that representation.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15/18 dims significant at FDR-corrected p &lt; 0.05. Mental and physical concepts project toward 'human' side. Shapes (negative control) and Formality show near-zero alignment.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C72B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Lexical Overlap Investigation</a:t>
            </a:r>
          </a:p>
          <a:p>
            <a:pPr algn="l">
              <a:spcBef>
                <a:spcPts val="1200"/>
              </a:spcBef>
              <a:defRPr sz="1600">
                <a:solidFill>
                  <a:srgbClr val="CCDDFF"/>
                </a:solidFill>
              </a:defRPr>
            </a:pPr>
            <a:r>
              <a:t>Experiment 3: Concept-Probe Alignment in LLaMA-2-13B-Chat</a:t>
            </a:r>
            <a:br/>
            <a:r>
              <a:t>Could surface-level vocabulary overlap explain the alignment</a:t>
            </a:r>
            <a:br/>
            <a:r>
              <a:t>between concept directions and conversational probes?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4C72B0"/>
                </a:solidFill>
              </a:defRPr>
            </a:pPr>
            <a:r>
              <a:t>Outline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800" b="1"/>
            </a:pPr>
            <a:r>
              <a:t>1.  Background: The Concept-Probe Alignment Analysis</a:t>
            </a:r>
          </a:p>
          <a:p>
            <a:pPr>
              <a:spcBef>
                <a:spcPts val="600"/>
              </a:spcBef>
              <a:defRPr sz="1800" b="1"/>
            </a:pPr>
            <a:r>
              <a:t>2.  The Concern: Could Lexical Overlap Explain Our Results?</a:t>
            </a:r>
          </a:p>
          <a:p>
            <a:pPr>
              <a:spcBef>
                <a:spcPts val="600"/>
              </a:spcBef>
              <a:defRPr sz="1800" b="1"/>
            </a:pPr>
            <a:r>
              <a:t>3.  Six Lines of Evidence</a:t>
            </a:r>
          </a:p>
          <a:p>
            <a:pPr lvl="1">
              <a:spcBef>
                <a:spcPts val="600"/>
              </a:spcBef>
              <a:defRPr sz="1500">
                <a:solidFill>
                  <a:srgbClr val="666666"/>
                </a:solidFill>
              </a:defRPr>
            </a:pPr>
            <a:r>
              <a:t>     (a) Vocabulary overlap between prompt conditions</a:t>
            </a:r>
          </a:p>
          <a:p>
            <a:pPr lvl="1">
              <a:spcBef>
                <a:spcPts val="600"/>
              </a:spcBef>
              <a:defRPr sz="1500">
                <a:solidFill>
                  <a:srgbClr val="666666"/>
                </a:solidFill>
              </a:defRPr>
            </a:pPr>
            <a:r>
              <a:t>     (b) Entity word contamination</a:t>
            </a:r>
          </a:p>
          <a:p>
            <a:pPr lvl="1">
              <a:spcBef>
                <a:spcPts val="600"/>
              </a:spcBef>
              <a:defRPr sz="1500">
                <a:solidFill>
                  <a:srgbClr val="666666"/>
                </a:solidFill>
              </a:defRPr>
            </a:pPr>
            <a:r>
              <a:t>     (c) Layer profiles</a:t>
            </a:r>
          </a:p>
          <a:p>
            <a:pPr lvl="1">
              <a:spcBef>
                <a:spcPts val="600"/>
              </a:spcBef>
              <a:defRPr sz="1500">
                <a:solidFill>
                  <a:srgbClr val="666666"/>
                </a:solidFill>
              </a:defRPr>
            </a:pPr>
            <a:r>
              <a:t>     (d) Standalone activations (no entity words)</a:t>
            </a:r>
          </a:p>
          <a:p>
            <a:pPr lvl="1">
              <a:spcBef>
                <a:spcPts val="600"/>
              </a:spcBef>
              <a:defRPr sz="1500">
                <a:solidFill>
                  <a:srgbClr val="666666"/>
                </a:solidFill>
              </a:defRPr>
            </a:pPr>
            <a:r>
              <a:t>     (e) Diagnostic dimensions (Formality, Shapes, SysPrompt)</a:t>
            </a:r>
          </a:p>
          <a:p>
            <a:pPr lvl="1">
              <a:spcBef>
                <a:spcPts val="600"/>
              </a:spcBef>
              <a:defRPr sz="1500">
                <a:solidFill>
                  <a:srgbClr val="666666"/>
                </a:solidFill>
              </a:defRPr>
            </a:pPr>
            <a:r>
              <a:t>     (f) Exp 2 conversation vocabulary</a:t>
            </a:r>
          </a:p>
          <a:p>
            <a:pPr>
              <a:spcBef>
                <a:spcPts val="600"/>
              </a:spcBef>
              <a:defRPr sz="1800" b="1"/>
            </a:pPr>
            <a:r>
              <a:t>4.  Synthesis &amp; Remaining Questions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4C72B0"/>
                </a:solidFill>
              </a:defRPr>
            </a:pPr>
            <a:r>
              <a:t>Background: The Two Experiments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800" b="1"/>
            </a:pPr>
            <a:r>
              <a:t>Experiment 2: Conversational Partner-Identity Probes</a:t>
            </a:r>
          </a:p>
          <a:p>
            <a:pPr>
              <a:spcBef>
                <a:spcPts val="600"/>
              </a:spcBef>
              <a:defRPr sz="1400"/>
            </a:pPr>
            <a:r>
              <a:t>  A participant LLM (LLaMA-2-13B-Chat) had naturalistic conversations with</a:t>
            </a:r>
          </a:p>
          <a:p>
            <a:pPr>
              <a:spcBef>
                <a:spcPts val="600"/>
              </a:spcBef>
              <a:defRPr sz="1400"/>
            </a:pPr>
            <a:r>
              <a:t>  either a human partner or an AI partner.</a:t>
            </a:r>
          </a:p>
          <a:p>
            <a:pPr>
              <a:spcBef>
                <a:spcPts val="600"/>
              </a:spcBef>
              <a:defRPr sz="1400"/>
            </a:pPr>
            <a:r>
              <a:t>  Linear probes were trained on hidden states to classify: human vs. AI partner.</a:t>
            </a:r>
          </a:p>
          <a:p>
            <a:pPr>
              <a:spcBef>
                <a:spcPts val="600"/>
              </a:spcBef>
              <a:defRPr sz="600"/>
            </a:pPr>
          </a:p>
          <a:p>
            <a:pPr>
              <a:spcBef>
                <a:spcPts val="600"/>
              </a:spcBef>
              <a:defRPr sz="1800" b="1"/>
            </a:pPr>
            <a:r>
              <a:t>Experiment 3: Concept-Probe Alignment</a:t>
            </a:r>
          </a:p>
          <a:p>
            <a:pPr>
              <a:spcBef>
                <a:spcPts val="600"/>
              </a:spcBef>
              <a:defRPr sz="1400"/>
            </a:pPr>
            <a:r>
              <a:t>  For 18 concept dimensions (emotions, agency, embodiment, shapes, etc.),</a:t>
            </a:r>
          </a:p>
          <a:p>
            <a:pPr>
              <a:spcBef>
                <a:spcPts val="600"/>
              </a:spcBef>
              <a:defRPr sz="1400"/>
            </a:pPr>
            <a:r>
              <a:t>  we created 40 human-framed and 40 AI-framed prompts.</a:t>
            </a:r>
          </a:p>
          <a:p>
            <a:pPr>
              <a:spcBef>
                <a:spcPts val="600"/>
              </a:spcBef>
              <a:defRPr sz="1400"/>
            </a:pPr>
            <a:r>
              <a:t>  Concept direction = mean(human activations) - mean(AI activations).</a:t>
            </a:r>
          </a:p>
          <a:p>
            <a:pPr>
              <a:spcBef>
                <a:spcPts val="600"/>
              </a:spcBef>
              <a:defRPr sz="1400"/>
            </a:pPr>
            <a:r>
              <a:t>  We test whether each concept direction aligns with the Exp 2 probes.</a:t>
            </a:r>
          </a:p>
          <a:p>
            <a:pPr>
              <a:spcBef>
                <a:spcPts val="600"/>
              </a:spcBef>
              <a:defRPr sz="600"/>
            </a:pPr>
          </a:p>
          <a:p>
            <a:pPr>
              <a:spcBef>
                <a:spcPts val="600"/>
              </a:spcBef>
              <a:defRPr sz="1600" b="1">
                <a:solidFill>
                  <a:srgbClr val="4C72B0"/>
                </a:solidFill>
              </a:defRPr>
            </a:pPr>
            <a:r>
              <a:t>Key question: Does thinking about 'human emotions vs. AI emotions'</a:t>
            </a:r>
          </a:p>
          <a:p>
            <a:pPr>
              <a:spcBef>
                <a:spcPts val="600"/>
              </a:spcBef>
              <a:defRPr sz="1600" b="1">
                <a:solidFill>
                  <a:srgbClr val="4C72B0"/>
                </a:solidFill>
              </a:defRPr>
            </a:pPr>
            <a:r>
              <a:t>activate the same neural direction that distinguishes partners in conversation?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4C72B0"/>
                </a:solidFill>
              </a:defRPr>
            </a:pPr>
            <a:r>
              <a:t>How the Probes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2000" b="1">
                <a:solidFill>
                  <a:srgbClr val="4C72B0"/>
                </a:solidFill>
              </a:defRPr>
            </a:pPr>
            <a:r>
              <a:t>Control Probe</a:t>
            </a:r>
          </a:p>
          <a:p>
            <a:pPr>
              <a:spcBef>
                <a:spcPts val="600"/>
              </a:spcBef>
              <a:defRPr sz="1400"/>
            </a:pPr>
            <a:r>
              <a:t>  Extracts the hidden state at the last input token: [/INST]</a:t>
            </a:r>
          </a:p>
          <a:p>
            <a:pPr>
              <a:spcBef>
                <a:spcPts val="600"/>
              </a:spcBef>
              <a:defRPr sz="1400"/>
            </a:pPr>
            <a:r>
              <a:t>  This is the boundary between the partner's last message and the</a:t>
            </a:r>
          </a:p>
          <a:p>
            <a:pPr>
              <a:spcBef>
                <a:spcPts val="600"/>
              </a:spcBef>
              <a:defRPr sz="1400"/>
            </a:pPr>
            <a:r>
              <a:t>  participant's next response — the model is about to generate.</a:t>
            </a:r>
          </a:p>
          <a:p>
            <a:pPr>
              <a:spcBef>
                <a:spcPts val="600"/>
              </a:spcBef>
              <a:defRPr sz="1400" b="1"/>
            </a:pPr>
            <a:r>
              <a:t>  Captures: active in-context representation of partner identity.</a:t>
            </a:r>
          </a:p>
          <a:p>
            <a:pPr>
              <a:spcBef>
                <a:spcPts val="600"/>
              </a:spcBef>
              <a:defRPr sz="800"/>
            </a:pPr>
          </a:p>
          <a:p>
            <a:pPr>
              <a:spcBef>
                <a:spcPts val="600"/>
              </a:spcBef>
              <a:defRPr sz="2000" b="1">
                <a:solidFill>
                  <a:srgbClr val="4C72B0"/>
                </a:solidFill>
              </a:defRPr>
            </a:pPr>
            <a:r>
              <a:t>Reading Probe</a:t>
            </a:r>
          </a:p>
          <a:p>
            <a:pPr>
              <a:spcBef>
                <a:spcPts val="600"/>
              </a:spcBef>
              <a:defRPr sz="1400"/>
            </a:pPr>
            <a:r>
              <a:t>  Appends a reflective suffix: "I think the conversation partner of this user is"</a:t>
            </a:r>
          </a:p>
          <a:p>
            <a:pPr>
              <a:spcBef>
                <a:spcPts val="600"/>
              </a:spcBef>
              <a:defRPr sz="1400"/>
            </a:pPr>
            <a:r>
              <a:t>  Placed in the participant's response position (after [/INST]).</a:t>
            </a:r>
          </a:p>
          <a:p>
            <a:pPr>
              <a:spcBef>
                <a:spcPts val="600"/>
              </a:spcBef>
              <a:defRPr sz="1400"/>
            </a:pPr>
            <a:r>
              <a:t>  Extracts hidden state at the last token of this suffix.</a:t>
            </a:r>
          </a:p>
          <a:p>
            <a:pPr>
              <a:spcBef>
                <a:spcPts val="600"/>
              </a:spcBef>
              <a:defRPr sz="1400" b="1"/>
            </a:pPr>
            <a:r>
              <a:t>  Captures: metacognitive reflection about partner identity.</a:t>
            </a:r>
          </a:p>
          <a:p>
            <a:pPr>
              <a:spcBef>
                <a:spcPts val="600"/>
              </a:spcBef>
              <a:defRPr sz="800"/>
            </a:pPr>
          </a:p>
          <a:p>
            <a:pPr>
              <a:spcBef>
                <a:spcPts val="600"/>
              </a:spcBef>
              <a:defRPr sz="1300">
                <a:solidFill>
                  <a:srgbClr val="666666"/>
                </a:solidFill>
              </a:defRPr>
            </a:pPr>
            <a:r>
              <a:t>Both probes: per-layer binary classifiers (Linear + Sigmoid, BCE loss)</a:t>
            </a:r>
          </a:p>
          <a:p>
            <a:pPr>
              <a:spcBef>
                <a:spcPts val="600"/>
              </a:spcBef>
              <a:defRPr sz="1300">
                <a:solidFill>
                  <a:srgbClr val="666666"/>
                </a:solidFill>
              </a:defRPr>
            </a:pPr>
            <a:r>
              <a:t>  41 layers, Human = 1, AI = 0. Trained on Exp 2 conversation data.</a:t>
            </a:r>
          </a:p>
          <a:p>
            <a:pPr>
              <a:spcBef>
                <a:spcPts val="600"/>
              </a:spcBef>
              <a:defRPr sz="1400" b="1">
                <a:solidFill>
                  <a:srgbClr val="C44E52"/>
                </a:solidFill>
              </a:defRPr>
            </a:pPr>
            <a:r>
              <a:t>Important: attention compresses the ENTIRE conversation into each position.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4C72B0"/>
                </a:solidFill>
              </a:defRPr>
            </a:pPr>
            <a:r>
              <a:t>Example Prompts: Emotions Dimension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 b="1">
                <a:solidFill>
                  <a:srgbClr val="4C72B0"/>
                </a:solidFill>
              </a:defRPr>
            </a:pPr>
            <a:r>
              <a:t>Human-framed (label = 1):</a:t>
            </a:r>
          </a:p>
          <a:p>
            <a:pPr>
              <a:spcBef>
                <a:spcPts val="600"/>
              </a:spcBef>
              <a:defRPr sz="1400"/>
            </a:pPr>
            <a:r>
              <a:t>  "Imagine a human experiencing a sudden wave of fear when they</a:t>
            </a:r>
          </a:p>
          <a:p>
            <a:pPr>
              <a:spcBef>
                <a:spcPts val="600"/>
              </a:spcBef>
              <a:defRPr sz="1400"/>
            </a:pPr>
            <a:r>
              <a:t>   hear an unexpected noise at night."</a:t>
            </a:r>
          </a:p>
          <a:p>
            <a:pPr>
              <a:spcBef>
                <a:spcPts val="600"/>
              </a:spcBef>
              <a:defRPr sz="600"/>
            </a:pPr>
          </a:p>
          <a:p>
            <a:pPr>
              <a:spcBef>
                <a:spcPts val="600"/>
              </a:spcBef>
              <a:defRPr sz="1600" b="1">
                <a:solidFill>
                  <a:srgbClr val="C44E52"/>
                </a:solidFill>
              </a:defRPr>
            </a:pPr>
            <a:r>
              <a:t>AI-framed (label = 0):</a:t>
            </a:r>
          </a:p>
          <a:p>
            <a:pPr>
              <a:spcBef>
                <a:spcPts val="600"/>
              </a:spcBef>
              <a:defRPr sz="1400"/>
            </a:pPr>
            <a:r>
              <a:t>  "Imagine an AI system generating a high-threat classification when</a:t>
            </a:r>
          </a:p>
          <a:p>
            <a:pPr>
              <a:spcBef>
                <a:spcPts val="600"/>
              </a:spcBef>
              <a:defRPr sz="1400"/>
            </a:pPr>
            <a:r>
              <a:t>   it detects an anomalous input signal."</a:t>
            </a:r>
          </a:p>
          <a:p>
            <a:pPr>
              <a:spcBef>
                <a:spcPts val="600"/>
              </a:spcBef>
              <a:defRPr sz="600"/>
            </a:pPr>
          </a:p>
          <a:p>
            <a:pPr>
              <a:spcBef>
                <a:spcPts val="600"/>
              </a:spcBef>
              <a:defRPr sz="1600" b="1">
                <a:solidFill>
                  <a:srgbClr val="666666"/>
                </a:solidFill>
              </a:defRPr>
            </a:pPr>
            <a:r>
              <a:t>Standalone (no label — used in standalone analysis):</a:t>
            </a:r>
          </a:p>
          <a:p>
            <a:pPr>
              <a:spcBef>
                <a:spcPts val="600"/>
              </a:spcBef>
              <a:defRPr sz="1400"/>
            </a:pPr>
            <a:r>
              <a:t>  "Imagine experiencing a sudden wave of fear triggered by an</a:t>
            </a:r>
          </a:p>
          <a:p>
            <a:pPr>
              <a:spcBef>
                <a:spcPts val="600"/>
              </a:spcBef>
              <a:defRPr sz="1400"/>
            </a:pPr>
            <a:r>
              <a:t>   unexpected noise at night."</a:t>
            </a:r>
          </a:p>
          <a:p>
            <a:pPr>
              <a:spcBef>
                <a:spcPts val="600"/>
              </a:spcBef>
              <a:defRPr sz="1000"/>
            </a:pPr>
          </a:p>
          <a:p>
            <a:pPr>
              <a:spcBef>
                <a:spcPts val="600"/>
              </a:spcBef>
              <a:defRPr sz="1500" b="1"/>
            </a:pPr>
            <a:r>
              <a:t>Concept direction = mean(human activations) - mean(AI activations)</a:t>
            </a:r>
          </a:p>
          <a:p>
            <a:pPr>
              <a:spcBef>
                <a:spcPts val="600"/>
              </a:spcBef>
              <a:defRPr sz="1400"/>
            </a:pPr>
            <a:r>
              <a:t>  Alignment = projection of concept direction onto Exp 2 probe weights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4C72B0"/>
                </a:solidFill>
              </a:defRPr>
            </a:pPr>
            <a:r>
              <a:t>Main Result: 15 of 18 Dimensions Align Significantly</a:t>
            </a:r>
          </a:p>
        </p:txBody>
      </p:sp>
      <p:pic>
        <p:nvPicPr>
          <p:cNvPr id="3" name="Picture 2" descr="fig_main_res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8229600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7607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i="1">
                <a:solidFill>
                  <a:srgbClr val="666666"/>
                </a:solidFill>
              </a:defRPr>
            </a:pPr>
            <a:r>
              <a:t>Alignment between concept directions (Exp 3) and conversational partner probes (Exp 2). Tested via permutation (10K shuffles). Source: results/concept_probe_alignment/figures/fig_main_result.png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4C72B0"/>
                </a:solidFill>
              </a:defRPr>
            </a:pPr>
            <a:r>
              <a:t>The Concern: Lexical Overlap as a Confound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97280"/>
            <a:ext cx="8046720" cy="4754880"/>
          </a:xfrm>
          <a:prstGeom prst="roundRect">
            <a:avLst/>
          </a:prstGeom>
          <a:solidFill>
            <a:srgbClr val="FFF0F0"/>
          </a:solidFill>
          <a:ln w="19050">
            <a:solidFill>
              <a:srgbClr val="4C72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spcAft>
                <a:spcPts val="1200"/>
              </a:spcAft>
              <a:defRPr sz="2000" b="1">
                <a:solidFill>
                  <a:srgbClr val="2C2C2C"/>
                </a:solidFill>
              </a:defRPr>
            </a:pPr>
            <a:r>
              <a:t>Could surface-level vocabulary overlap explain the alignment?</a:t>
            </a:r>
          </a:p>
          <a:p>
            <a:pPr>
              <a:spcBef>
                <a:spcPts val="600"/>
              </a:spcBef>
              <a:defRPr sz="1400">
                <a:solidFill>
                  <a:srgbClr val="2C2C2C"/>
                </a:solidFill>
              </a:defRPr>
            </a:pPr>
            <a:r>
              <a:t>Type A: Entity Word Contamination</a:t>
            </a:r>
          </a:p>
          <a:p>
            <a:pPr>
              <a:spcBef>
                <a:spcPts val="600"/>
              </a:spcBef>
              <a:defRPr sz="1400">
                <a:solidFill>
                  <a:srgbClr val="2C2C2C"/>
                </a:solidFill>
              </a:defRPr>
            </a:pPr>
            <a:r>
              <a:t>  Human-framed prompts say 'human'; AI-framed say 'AI', 'machine', 'system'.</a:t>
            </a:r>
          </a:p>
          <a:p>
            <a:pPr>
              <a:spcBef>
                <a:spcPts val="600"/>
              </a:spcBef>
              <a:defRPr sz="1400">
                <a:solidFill>
                  <a:srgbClr val="2C2C2C"/>
                </a:solidFill>
              </a:defRPr>
            </a:pPr>
            <a:r>
              <a:t>  If the Exp 2 probe is just detecting these entity words, the alignment</a:t>
            </a:r>
          </a:p>
          <a:p>
            <a:pPr>
              <a:spcBef>
                <a:spcPts val="600"/>
              </a:spcBef>
              <a:defRPr sz="1400">
                <a:solidFill>
                  <a:srgbClr val="2C2C2C"/>
                </a:solidFill>
              </a:defRPr>
            </a:pPr>
            <a:r>
              <a:t>  would be trivially explained.</a:t>
            </a:r>
          </a:p>
          <a:p>
            <a:pPr>
              <a:spcBef>
                <a:spcPts val="600"/>
              </a:spcBef>
              <a:defRPr sz="1400">
                <a:solidFill>
                  <a:srgbClr val="2C2C2C"/>
                </a:solidFill>
              </a:defRPr>
            </a:pPr>
          </a:p>
          <a:p>
            <a:pPr>
              <a:spcBef>
                <a:spcPts val="600"/>
              </a:spcBef>
              <a:defRPr sz="1400">
                <a:solidFill>
                  <a:srgbClr val="2C2C2C"/>
                </a:solidFill>
              </a:defRPr>
            </a:pPr>
            <a:r>
              <a:t>Type B: Concept Vocabulary Overlap</a:t>
            </a:r>
          </a:p>
          <a:p>
            <a:pPr>
              <a:spcBef>
                <a:spcPts val="600"/>
              </a:spcBef>
              <a:defRPr sz="1400">
                <a:solidFill>
                  <a:srgbClr val="2C2C2C"/>
                </a:solidFill>
              </a:defRPr>
            </a:pPr>
            <a:r>
              <a:t>  Human emotion prompts use emotional vocabulary ('fear', 'joy').</a:t>
            </a:r>
          </a:p>
          <a:p>
            <a:pPr>
              <a:spcBef>
                <a:spcPts val="600"/>
              </a:spcBef>
              <a:defRPr sz="1400">
                <a:solidFill>
                  <a:srgbClr val="2C2C2C"/>
                </a:solidFill>
              </a:defRPr>
            </a:pPr>
            <a:r>
              <a:t>  If human-partner conversations also have more emotion words,</a:t>
            </a:r>
          </a:p>
          <a:p>
            <a:pPr>
              <a:spcBef>
                <a:spcPts val="600"/>
              </a:spcBef>
              <a:defRPr sz="1400">
                <a:solidFill>
                  <a:srgbClr val="2C2C2C"/>
                </a:solidFill>
              </a:defRPr>
            </a:pPr>
            <a:r>
              <a:t>  the probe might match word distributions, not conceptual content.</a:t>
            </a:r>
          </a:p>
          <a:p>
            <a:pPr>
              <a:spcBef>
                <a:spcPts val="600"/>
              </a:spcBef>
              <a:defRPr sz="1400">
                <a:solidFill>
                  <a:srgbClr val="2C2C2C"/>
                </a:solidFill>
              </a:defRPr>
            </a:pPr>
          </a:p>
          <a:p>
            <a:pPr>
              <a:spcBef>
                <a:spcPts val="600"/>
              </a:spcBef>
              <a:defRPr sz="1400">
                <a:solidFill>
                  <a:srgbClr val="2C2C2C"/>
                </a:solidFill>
              </a:defRPr>
            </a:pPr>
            <a:r>
              <a:t>We investigate with six independent lines of evidence.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4C72B0"/>
                </a:solidFill>
              </a:defRPr>
            </a:pPr>
            <a:r>
              <a:t>Evidence 1: Vocabulary Overlap Between Prompt Conditions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500" b="1"/>
            </a:pPr>
            <a:r>
              <a:t>Method: Jaccard similarity between human-framed and AI-framed prompt vocabularies</a:t>
            </a:r>
          </a:p>
          <a:p>
            <a:pPr>
              <a:spcBef>
                <a:spcPts val="600"/>
              </a:spcBef>
              <a:defRPr sz="400"/>
            </a:pPr>
          </a:p>
          <a:p>
            <a:pPr>
              <a:spcBef>
                <a:spcPts val="600"/>
              </a:spcBef>
              <a:defRPr sz="1400"/>
            </a:pPr>
            <a:r>
              <a:t>  Jaccard = |intersection| / |union| of unique content words</a:t>
            </a:r>
          </a:p>
          <a:p>
            <a:pPr>
              <a:spcBef>
                <a:spcPts val="600"/>
              </a:spcBef>
              <a:defRPr sz="1400"/>
            </a:pPr>
            <a:r>
              <a:t>  Lexical distinctiveness = 1 - Jaccard</a:t>
            </a:r>
          </a:p>
          <a:p>
            <a:pPr>
              <a:spcBef>
                <a:spcPts val="600"/>
              </a:spcBef>
              <a:defRPr sz="1400"/>
            </a:pPr>
            <a:r>
              <a:t>  High distinctiveness = very different vocabulary between conditions</a:t>
            </a:r>
          </a:p>
          <a:p>
            <a:pPr>
              <a:spcBef>
                <a:spcPts val="600"/>
              </a:spcBef>
              <a:defRPr sz="800"/>
            </a:pPr>
          </a:p>
          <a:p>
            <a:pPr>
              <a:spcBef>
                <a:spcPts val="600"/>
              </a:spcBef>
              <a:defRPr sz="1600" b="1">
                <a:solidFill>
                  <a:srgbClr val="4C72B0"/>
                </a:solidFill>
              </a:defRPr>
            </a:pPr>
            <a:r>
              <a:t>Key question: Does vocabulary distinctiveness predict alignment?</a:t>
            </a:r>
          </a:p>
          <a:p>
            <a:pPr>
              <a:spcBef>
                <a:spcPts val="600"/>
              </a:spcBef>
              <a:defRPr sz="1400"/>
            </a:pPr>
            <a:r>
              <a:t>  If lexical overlap drives alignment, dimensions with more distinctive</a:t>
            </a:r>
          </a:p>
          <a:p>
            <a:pPr>
              <a:spcBef>
                <a:spcPts val="600"/>
              </a:spcBef>
              <a:defRPr sz="1400"/>
            </a:pPr>
            <a:r>
              <a:t>  vocabulary should show stronger alignment.</a:t>
            </a:r>
          </a:p>
          <a:p>
            <a:pPr>
              <a:spcBef>
                <a:spcPts val="600"/>
              </a:spcBef>
              <a:defRPr sz="800"/>
            </a:pPr>
          </a:p>
          <a:p>
            <a:pPr>
              <a:spcBef>
                <a:spcPts val="600"/>
              </a:spcBef>
              <a:defRPr sz="1200">
                <a:solidFill>
                  <a:srgbClr val="666666"/>
                </a:solidFill>
              </a:defRPr>
            </a:pPr>
            <a:r>
              <a:t>Data source: lexical_distinctiveness.csv</a:t>
            </a:r>
          </a:p>
          <a:p>
            <a:pPr>
              <a:spcBef>
                <a:spcPts val="600"/>
              </a:spcBef>
              <a:defRPr sz="1200">
                <a:solidFill>
                  <a:srgbClr val="666666"/>
                </a:solidFill>
              </a:defRPr>
            </a:pPr>
            <a:r>
              <a:t>Code: lexical_distinctiveness.py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4C72B0"/>
                </a:solidFill>
              </a:defRPr>
            </a:pPr>
            <a:r>
              <a:t>Vocabulary Overlap Is Low for Most Dimensions</a:t>
            </a:r>
          </a:p>
        </p:txBody>
      </p:sp>
      <p:pic>
        <p:nvPicPr>
          <p:cNvPr id="3" name="Picture 2" descr="fig_jaccard_b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8229600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7607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i="1">
                <a:solidFill>
                  <a:srgbClr val="666666"/>
                </a:solidFill>
              </a:defRPr>
            </a:pPr>
            <a:r>
              <a:t>Jaccard similarity between human and AI prompt vocabularies. Most dimensions &lt; 0.2. Baseline (dim 0) is 0.90 because prompts differ only in entity labels.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4C72B0"/>
                </a:solidFill>
              </a:defRPr>
            </a:pPr>
            <a:r>
              <a:t>Lexical Distinctiveness Does NOT Predict Alignment</a:t>
            </a:r>
          </a:p>
        </p:txBody>
      </p:sp>
      <p:pic>
        <p:nvPicPr>
          <p:cNvPr id="3" name="Picture 2" descr="fig_lexical_vs_align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8229600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7607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i="1">
                <a:solidFill>
                  <a:srgbClr val="666666"/>
                </a:solidFill>
              </a:defRPr>
            </a:pPr>
            <a:r>
              <a:t>Spearman rho = 0.34, p = 0.17 (not significant). Vocabulary difference alone does not drive alignment. Data source: lexical_distinctiveness.csv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4C72B0"/>
                </a:solidFill>
              </a:defRPr>
            </a:pPr>
            <a:r>
              <a:t>Evidence 2: Entity Word Contamination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500"/>
            </a:pPr>
            <a:r>
              <a:t>Entity words = 'human', 'person', 'people' (human side)</a:t>
            </a:r>
          </a:p>
          <a:p>
            <a:pPr>
              <a:spcBef>
                <a:spcPts val="600"/>
              </a:spcBef>
              <a:defRPr sz="1500"/>
            </a:pPr>
            <a:r>
              <a:t>                   'ai', 'artificial', 'machine', 'robot', 'system' (AI side)</a:t>
            </a:r>
          </a:p>
          <a:p>
            <a:pPr>
              <a:spcBef>
                <a:spcPts val="600"/>
              </a:spcBef>
              <a:defRPr sz="600"/>
            </a:pPr>
          </a:p>
          <a:p>
            <a:pPr>
              <a:spcBef>
                <a:spcPts val="600"/>
              </a:spcBef>
              <a:defRPr sz="1500" b="1"/>
            </a:pPr>
            <a:r>
              <a:t>For each dimension, we computed:</a:t>
            </a:r>
          </a:p>
          <a:p>
            <a:pPr>
              <a:spcBef>
                <a:spcPts val="600"/>
              </a:spcBef>
              <a:defRPr sz="1400"/>
            </a:pPr>
            <a:r>
              <a:t>  % of human-framed prompts containing human entity words</a:t>
            </a:r>
          </a:p>
          <a:p>
            <a:pPr>
              <a:spcBef>
                <a:spcPts val="600"/>
              </a:spcBef>
              <a:defRPr sz="1400"/>
            </a:pPr>
            <a:r>
              <a:t>  % of AI-framed prompts containing AI entity words</a:t>
            </a:r>
          </a:p>
          <a:p>
            <a:pPr>
              <a:spcBef>
                <a:spcPts val="600"/>
              </a:spcBef>
              <a:defRPr sz="800"/>
            </a:pPr>
          </a:p>
          <a:p>
            <a:pPr>
              <a:spcBef>
                <a:spcPts val="600"/>
              </a:spcBef>
              <a:defRPr sz="1600" b="1">
                <a:solidFill>
                  <a:srgbClr val="4C72B0"/>
                </a:solidFill>
              </a:defRPr>
            </a:pPr>
            <a:r>
              <a:t>Key test: Does entity contamination predict alignment magnitude?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4C72B0"/>
                </a:solidFill>
              </a:defRPr>
            </a:pPr>
            <a:r>
              <a:t>Entity Contamination by Dimension</a:t>
            </a:r>
          </a:p>
        </p:txBody>
      </p:sp>
      <p:pic>
        <p:nvPicPr>
          <p:cNvPr id="3" name="Picture 2" descr="fig_entity_contamination_b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8229600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7607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i="1">
                <a:solidFill>
                  <a:srgbClr val="666666"/>
                </a:solidFill>
              </a:defRPr>
            </a:pPr>
            <a:r>
              <a:t>Most Mental/Physical dims: 100% contamination on both sides. Key exceptions: Formality (25%/0%), Helpfulness (60%/0%), Shapes (0%/0%).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4C72B0"/>
                </a:solidFill>
              </a:defRPr>
            </a:pPr>
            <a:r>
              <a:t>Entity Contamination Correlates with Alignment — But This Is Expected</a:t>
            </a:r>
          </a:p>
        </p:txBody>
      </p:sp>
      <p:pic>
        <p:nvPicPr>
          <p:cNvPr id="3" name="Picture 2" descr="fig_entity_vs_align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8229600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7607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i="1">
                <a:solidFill>
                  <a:srgbClr val="666666"/>
                </a:solidFill>
              </a:defRPr>
            </a:pPr>
            <a:r>
              <a:t>Spearman rho = 0.66, p = 0.003. Significant, but entity words carry genuine conceptual content — 'a human experiencing fear' IS about a human. The question is whether alignment comes ONLY from entity words or also from deeper structure.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4C72B0"/>
                </a:solidFill>
              </a:defRPr>
            </a:pPr>
            <a:r>
              <a:t>Evidence 3: Layer Profiles Rule Out Surface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 b="1"/>
            </a:pPr>
            <a:r>
              <a:t>If alignment were driven by surface-level vocabulary:</a:t>
            </a:r>
          </a:p>
          <a:p>
            <a:pPr>
              <a:spcBef>
                <a:spcPts val="600"/>
              </a:spcBef>
              <a:defRPr sz="1500"/>
            </a:pPr>
            <a:r>
              <a:t>  It should appear in EARLY layers (0-5), where representations</a:t>
            </a:r>
          </a:p>
          <a:p>
            <a:pPr>
              <a:spcBef>
                <a:spcPts val="600"/>
              </a:spcBef>
              <a:defRPr sz="1500"/>
            </a:pPr>
            <a:r>
              <a:t>  are closest to raw token embeddings.</a:t>
            </a:r>
          </a:p>
          <a:p>
            <a:pPr>
              <a:spcBef>
                <a:spcPts val="600"/>
              </a:spcBef>
              <a:defRPr sz="800"/>
            </a:pPr>
          </a:p>
          <a:p>
            <a:pPr>
              <a:spcBef>
                <a:spcPts val="600"/>
              </a:spcBef>
              <a:defRPr sz="1600" b="1">
                <a:solidFill>
                  <a:srgbClr val="55A868"/>
                </a:solidFill>
              </a:defRPr>
            </a:pPr>
            <a:r>
              <a:t>What we observe:</a:t>
            </a:r>
          </a:p>
          <a:p>
            <a:pPr>
              <a:spcBef>
                <a:spcPts val="600"/>
              </a:spcBef>
              <a:defRPr sz="1500"/>
            </a:pPr>
            <a:r>
              <a:t>  Alignment peaks in LATE layers (25-40), where representations</a:t>
            </a:r>
          </a:p>
          <a:p>
            <a:pPr>
              <a:spcBef>
                <a:spcPts val="600"/>
              </a:spcBef>
              <a:defRPr sz="1500"/>
            </a:pPr>
            <a:r>
              <a:t>  encode abstract, semantic content.</a:t>
            </a:r>
          </a:p>
          <a:p>
            <a:pPr>
              <a:spcBef>
                <a:spcPts val="600"/>
              </a:spcBef>
              <a:defRPr sz="800"/>
            </a:pPr>
          </a:p>
          <a:p>
            <a:pPr>
              <a:spcBef>
                <a:spcPts val="600"/>
              </a:spcBef>
              <a:defRPr sz="1600" b="1"/>
            </a:pPr>
            <a:r>
              <a:t>This is inconsistent with a lexical/surface-feature explanation.</a:t>
            </a:r>
          </a:p>
          <a:p>
            <a:pPr>
              <a:spcBef>
                <a:spcPts val="600"/>
              </a:spcBef>
              <a:defRPr sz="600"/>
            </a:pPr>
          </a:p>
          <a:p>
            <a:pPr>
              <a:spcBef>
                <a:spcPts val="600"/>
              </a:spcBef>
              <a:defRPr sz="1300">
                <a:solidFill>
                  <a:srgbClr val="666666"/>
                </a:solidFill>
              </a:defRPr>
            </a:pPr>
            <a:r>
              <a:t>Note: even though the probe extracts from a single token position,</a:t>
            </a:r>
          </a:p>
          <a:p>
            <a:pPr>
              <a:spcBef>
                <a:spcPts val="600"/>
              </a:spcBef>
              <a:defRPr sz="1300">
                <a:solidFill>
                  <a:srgbClr val="666666"/>
                </a:solidFill>
              </a:defRPr>
            </a:pPr>
            <a:r>
              <a:t>the entire context is compressed into that representation via attention.</a:t>
            </a:r>
          </a:p>
          <a:p>
            <a:pPr>
              <a:spcBef>
                <a:spcPts val="600"/>
              </a:spcBef>
              <a:defRPr sz="1300">
                <a:solidFill>
                  <a:srgbClr val="666666"/>
                </a:solidFill>
              </a:defRPr>
            </a:pPr>
            <a:r>
              <a:t>The layer argument holds because early vs. late layers process differently,</a:t>
            </a:r>
          </a:p>
          <a:p>
            <a:pPr>
              <a:spcBef>
                <a:spcPts val="600"/>
              </a:spcBef>
              <a:defRPr sz="1300">
                <a:solidFill>
                  <a:srgbClr val="666666"/>
                </a:solidFill>
              </a:defRPr>
            </a:pPr>
            <a:r>
              <a:t>regardless of how information arrives at each position.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4C72B0"/>
                </a:solidFill>
              </a:defRPr>
            </a:pPr>
            <a:r>
              <a:t>Layer Profiles: Selected Dimensions</a:t>
            </a:r>
          </a:p>
        </p:txBody>
      </p:sp>
      <p:pic>
        <p:nvPicPr>
          <p:cNvPr id="3" name="Picture 2" descr="fig_layer_profiles_sele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8229600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7607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i="1">
                <a:solidFill>
                  <a:srgbClr val="666666"/>
                </a:solidFill>
              </a:defRPr>
            </a:pPr>
            <a:r>
              <a:t>Per-layer alignment for Emotions (strong), Formality (near-zero), Shapes (near-zero). Alignment rises in late layers. Data: alignment_stats.json per-layer cosines.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4C72B0"/>
                </a:solidFill>
              </a:defRPr>
            </a:pPr>
            <a:r>
              <a:t>Layer-wise Alignment Heatmap (Control Probe)</a:t>
            </a:r>
          </a:p>
        </p:txBody>
      </p:sp>
      <p:pic>
        <p:nvPicPr>
          <p:cNvPr id="3" name="Picture 2" descr="fig_heatmap_contr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8229600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7607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i="1">
                <a:solidFill>
                  <a:srgbClr val="666666"/>
                </a:solidFill>
              </a:defRPr>
            </a:pPr>
            <a:r>
              <a:t>All 18 dimensions x 41 layers. Strong alignment (dark) concentrated in late layers (right side). Source: results/concept_probe_alignment/figures/layerwise/fig_heatmap_control.png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4C72B0"/>
                </a:solidFill>
              </a:defRPr>
            </a:pPr>
            <a:r>
              <a:t>Full Layer Profiles: All 18 Dimensions (Control Probe)</a:t>
            </a:r>
          </a:p>
        </p:txBody>
      </p:sp>
      <p:pic>
        <p:nvPicPr>
          <p:cNvPr id="3" name="Picture 2" descr="fig_layer_profiles_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8229600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7607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i="1">
                <a:solidFill>
                  <a:srgbClr val="666666"/>
                </a:solidFill>
              </a:defRPr>
            </a:pPr>
            <a:r>
              <a:t>Each panel = one dimension. Consistent pattern: flat/noisy early, rising late. Source: results/concept_probe_alignment/figures/control_probe/fig_layer_profiles_grid.png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4C72B0"/>
                </a:solidFill>
              </a:defRPr>
            </a:pPr>
            <a:r>
              <a:t>Evidence 4: Standalone Activations (No Entity Words)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 b="1"/>
            </a:pPr>
            <a:r>
              <a:t>Standalone prompts = same concepts, NO human/AI framing</a:t>
            </a:r>
          </a:p>
          <a:p>
            <a:pPr>
              <a:spcBef>
                <a:spcPts val="600"/>
              </a:spcBef>
              <a:defRPr sz="600"/>
            </a:pPr>
          </a:p>
          <a:p>
            <a:pPr>
              <a:spcBef>
                <a:spcPts val="600"/>
              </a:spcBef>
              <a:defRPr sz="1400"/>
            </a:pPr>
            <a:r>
              <a:t>  Contrast:    "Imagine a human experiencing a sudden wave of fear..."</a:t>
            </a:r>
          </a:p>
          <a:p>
            <a:pPr>
              <a:spcBef>
                <a:spcPts val="600"/>
              </a:spcBef>
              <a:defRPr sz="1400"/>
            </a:pPr>
            <a:r>
              <a:t>  Standalone:  "Imagine experiencing a sudden wave of fear..."</a:t>
            </a:r>
          </a:p>
          <a:p>
            <a:pPr>
              <a:spcBef>
                <a:spcPts val="600"/>
              </a:spcBef>
              <a:defRPr sz="800"/>
            </a:pPr>
          </a:p>
          <a:p>
            <a:pPr>
              <a:spcBef>
                <a:spcPts val="600"/>
              </a:spcBef>
              <a:defRPr sz="1500" b="1">
                <a:solidFill>
                  <a:srgbClr val="55A868"/>
                </a:solidFill>
              </a:defRPr>
            </a:pPr>
            <a:r>
              <a:t>These prompts contain NO entity words at all.</a:t>
            </a:r>
          </a:p>
          <a:p>
            <a:pPr>
              <a:spcBef>
                <a:spcPts val="600"/>
              </a:spcBef>
              <a:defRPr sz="600"/>
            </a:pPr>
          </a:p>
          <a:p>
            <a:pPr>
              <a:spcBef>
                <a:spcPts val="600"/>
              </a:spcBef>
              <a:defRPr sz="1500"/>
            </a:pPr>
            <a:r>
              <a:t>We project standalone activations onto the Exp 2 probes:</a:t>
            </a:r>
          </a:p>
          <a:p>
            <a:pPr>
              <a:spcBef>
                <a:spcPts val="600"/>
              </a:spcBef>
              <a:defRPr sz="1400"/>
            </a:pPr>
            <a:r>
              <a:t>  Does thinking about emotion IN GENERAL (no human/AI frame)</a:t>
            </a:r>
          </a:p>
          <a:p>
            <a:pPr>
              <a:spcBef>
                <a:spcPts val="600"/>
              </a:spcBef>
              <a:defRPr sz="1400"/>
            </a:pPr>
            <a:r>
              <a:t>  activate a particular side of the human/AI probe?</a:t>
            </a:r>
          </a:p>
          <a:p>
            <a:pPr>
              <a:spcBef>
                <a:spcPts val="600"/>
              </a:spcBef>
              <a:defRPr sz="800"/>
            </a:pPr>
          </a:p>
          <a:p>
            <a:pPr>
              <a:spcBef>
                <a:spcPts val="600"/>
              </a:spcBef>
              <a:defRPr sz="1500" b="1">
                <a:solidFill>
                  <a:srgbClr val="C44E52"/>
                </a:solidFill>
              </a:defRPr>
            </a:pPr>
            <a:r>
              <a:t>Important caveat: All standalone projections are negative</a:t>
            </a:r>
          </a:p>
          <a:p>
            <a:pPr>
              <a:spcBef>
                <a:spcPts val="600"/>
              </a:spcBef>
              <a:defRPr sz="1400"/>
            </a:pPr>
            <a:r>
              <a:t>  (baseline offset ~-1.5 to -1.96). The relative ranking is meaningful,</a:t>
            </a:r>
          </a:p>
          <a:p>
            <a:pPr>
              <a:spcBef>
                <a:spcPts val="600"/>
              </a:spcBef>
              <a:defRPr sz="1400"/>
            </a:pPr>
            <a:r>
              <a:t>  not the absolute values.</a:t>
            </a:r>
          </a:p>
          <a:p>
            <a:pPr>
              <a:spcBef>
                <a:spcPts val="600"/>
              </a:spcBef>
              <a:defRPr sz="400"/>
            </a:pPr>
          </a:p>
          <a:p>
            <a:pPr>
              <a:spcBef>
                <a:spcPts val="600"/>
              </a:spcBef>
              <a:defRPr sz="1200">
                <a:solidFill>
                  <a:srgbClr val="666666"/>
                </a:solidFill>
              </a:defRPr>
            </a:pPr>
            <a:r>
              <a:t>Statistical test: bootstrap against zero (10K resamples), BH-FDR corrected.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4C72B0"/>
                </a:solidFill>
              </a:defRPr>
            </a:pPr>
            <a:r>
              <a:t>Standalone Projections: Relative Ranking Matches Contrast</a:t>
            </a:r>
          </a:p>
        </p:txBody>
      </p:sp>
      <p:pic>
        <p:nvPicPr>
          <p:cNvPr id="3" name="Picture 2" descr="fig_ranked_bars_all_lay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8229600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7607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i="1">
                <a:solidFill>
                  <a:srgbClr val="666666"/>
                </a:solidFill>
              </a:defRPr>
            </a:pPr>
            <a:r>
              <a:t>All values negative (baseline offset). Mental/emotional concepts are least negative (toward human). Shapes most negative (toward AI). Source: results/standalone_alignment/figures/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4C72B0"/>
                </a:solidFill>
              </a:defRPr>
            </a:pPr>
            <a:r>
              <a:t>Standalone: Human Entity vs. AI Entity Concepts</a:t>
            </a:r>
          </a:p>
        </p:txBody>
      </p:sp>
      <p:pic>
        <p:nvPicPr>
          <p:cNvPr id="3" name="Picture 2" descr="fig_entity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7607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i="1">
                <a:solidFill>
                  <a:srgbClr val="666666"/>
                </a:solidFill>
              </a:defRPr>
            </a:pPr>
            <a:r>
              <a:t>'Think about what it means to be a human' (dim 16) vs. 'think about what it means to be an AI' (dim 17). Human entity projects closer to human side, as predicted.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4C72B0"/>
                </a:solidFill>
              </a:defRPr>
            </a:pPr>
            <a:r>
              <a:t>Contrast vs. Standalone Alignment: Same Conceptual Structure?</a:t>
            </a:r>
          </a:p>
        </p:txBody>
      </p:sp>
      <p:pic>
        <p:nvPicPr>
          <p:cNvPr id="3" name="Picture 2" descr="fig_contrast_vs_standal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8229600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7607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i="1">
                <a:solidFill>
                  <a:srgbClr val="666666"/>
                </a:solidFill>
              </a:defRPr>
            </a:pPr>
            <a:r>
              <a:t>Dimensions that align strongly in contrast analysis also show relatively less negative standalone projections. Data: alignment_stats.json + standalone_alignment_stats.json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4C72B0"/>
                </a:solidFill>
              </a:defRPr>
            </a:pPr>
            <a:r>
              <a:t>Evidence 5: Diagnostic Dimensions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 b="1"/>
            </a:pPr>
            <a:r>
              <a:t>Three dimensions serve as natural 'diagnostic tests':</a:t>
            </a:r>
          </a:p>
          <a:p>
            <a:pPr>
              <a:spcBef>
                <a:spcPts val="600"/>
              </a:spcBef>
              <a:defRPr sz="600"/>
            </a:pPr>
          </a:p>
          <a:p>
            <a:pPr>
              <a:spcBef>
                <a:spcPts val="600"/>
              </a:spcBef>
              <a:defRPr sz="1700" b="1">
                <a:solidFill>
                  <a:srgbClr val="4C72B0"/>
                </a:solidFill>
              </a:defRPr>
            </a:pPr>
            <a:r>
              <a:t>Formality (dim 11): Different vocabulary, NO alignment</a:t>
            </a:r>
          </a:p>
          <a:p>
            <a:pPr>
              <a:spcBef>
                <a:spcPts val="600"/>
              </a:spcBef>
              <a:defRPr sz="1400"/>
            </a:pPr>
            <a:r>
              <a:t>  Human = casual language; AI = formal language</a:t>
            </a:r>
          </a:p>
          <a:p>
            <a:pPr>
              <a:spcBef>
                <a:spcPts val="600"/>
              </a:spcBef>
              <a:defRPr sz="1400"/>
            </a:pPr>
            <a:r>
              <a:t>  Lexical distinctiveness = 0.867 (very different words)</a:t>
            </a:r>
          </a:p>
          <a:p>
            <a:pPr>
              <a:spcBef>
                <a:spcPts val="600"/>
              </a:spcBef>
              <a:defRPr sz="1400" b="1"/>
            </a:pPr>
            <a:r>
              <a:t>  Alignment = -0.028 (n.s.) — vocabulary difference does NOT produce alignment</a:t>
            </a:r>
          </a:p>
          <a:p>
            <a:pPr>
              <a:spcBef>
                <a:spcPts val="600"/>
              </a:spcBef>
              <a:defRPr sz="600"/>
            </a:pPr>
          </a:p>
          <a:p>
            <a:pPr>
              <a:spcBef>
                <a:spcPts val="600"/>
              </a:spcBef>
              <a:defRPr sz="1700" b="1">
                <a:solidFill>
                  <a:srgbClr val="4C72B0"/>
                </a:solidFill>
              </a:defRPr>
            </a:pPr>
            <a:r>
              <a:t>Shapes (dim 15): Negative control, ZERO alignment</a:t>
            </a:r>
          </a:p>
          <a:p>
            <a:pPr>
              <a:spcBef>
                <a:spcPts val="600"/>
              </a:spcBef>
              <a:defRPr sz="1400"/>
            </a:pPr>
            <a:r>
              <a:t>  Round pebbles vs angular objects — no human/AI relevance</a:t>
            </a:r>
          </a:p>
          <a:p>
            <a:pPr>
              <a:spcBef>
                <a:spcPts val="600"/>
              </a:spcBef>
              <a:defRPr sz="1400"/>
            </a:pPr>
            <a:r>
              <a:t>  Entity contamination = 0% on both sides</a:t>
            </a:r>
          </a:p>
          <a:p>
            <a:pPr>
              <a:spcBef>
                <a:spcPts val="600"/>
              </a:spcBef>
              <a:defRPr sz="1400" b="1"/>
            </a:pPr>
            <a:r>
              <a:t>  Alignment = 0.010 (n.s.) — confirms specificity to human/AI concepts</a:t>
            </a:r>
          </a:p>
          <a:p>
            <a:pPr>
              <a:spcBef>
                <a:spcPts val="600"/>
              </a:spcBef>
              <a:defRPr sz="600"/>
            </a:pPr>
          </a:p>
          <a:p>
            <a:pPr>
              <a:spcBef>
                <a:spcPts val="600"/>
              </a:spcBef>
              <a:defRPr sz="1700" b="1">
                <a:solidFill>
                  <a:srgbClr val="4C72B0"/>
                </a:solidFill>
              </a:defRPr>
            </a:pPr>
            <a:r>
              <a:t>SysPrompt (dim 18): Pure entity labels, STRONG alignment</a:t>
            </a:r>
          </a:p>
          <a:p>
            <a:pPr>
              <a:spcBef>
                <a:spcPts val="600"/>
              </a:spcBef>
              <a:defRPr sz="1400"/>
            </a:pPr>
            <a:r>
              <a:t>  "You are talking to a human" vs "You are talking to an AI"</a:t>
            </a:r>
          </a:p>
          <a:p>
            <a:pPr>
              <a:spcBef>
                <a:spcPts val="600"/>
              </a:spcBef>
              <a:defRPr sz="1400" b="1"/>
            </a:pPr>
            <a:r>
              <a:t>  Alignment = 0.215 (***) — entity words carry real conceptual weight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4C72B0"/>
                </a:solidFill>
              </a:defRPr>
            </a:pPr>
            <a:r>
              <a:t>Standalone SysPrompt Variants: Human vs. AI References</a:t>
            </a:r>
          </a:p>
        </p:txBody>
      </p:sp>
      <p:pic>
        <p:nvPicPr>
          <p:cNvPr id="3" name="Picture 2" descr="fig_sysprompt_varia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7607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i="1">
                <a:solidFill>
                  <a:srgbClr val="666666"/>
                </a:solidFill>
              </a:defRPr>
            </a:pPr>
            <a:r>
              <a:t>4 SysPrompt variants: 'talk-to human' and 'bare human' project toward human side; 'talk-to AI' and 'bare AI' toward AI side. Source: results/standalone_alignment/figures/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4C72B0"/>
                </a:solidFill>
              </a:defRPr>
            </a:pPr>
            <a:r>
              <a:t>Evidence 6: Exp 2 Conversation Vocabulary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500" b="1"/>
            </a:pPr>
            <a:r>
              <a:t>For Type B contamination, Exp 2 conversations would need asymmetric vocabulary</a:t>
            </a:r>
          </a:p>
          <a:p>
            <a:pPr>
              <a:spcBef>
                <a:spcPts val="600"/>
              </a:spcBef>
              <a:defRPr sz="1500"/>
            </a:pPr>
            <a:r>
              <a:t>  (e.g., more emotion words when talking to humans).</a:t>
            </a:r>
          </a:p>
          <a:p>
            <a:pPr>
              <a:spcBef>
                <a:spcPts val="600"/>
              </a:spcBef>
              <a:defRPr sz="600"/>
            </a:pPr>
          </a:p>
          <a:p>
            <a:pPr>
              <a:spcBef>
                <a:spcPts val="600"/>
              </a:spcBef>
              <a:defRPr sz="1500"/>
            </a:pPr>
            <a:r>
              <a:t>We analyzed word frequencies across conditions in the participant's utterances:</a:t>
            </a:r>
          </a:p>
          <a:p>
            <a:pPr>
              <a:spcBef>
                <a:spcPts val="600"/>
              </a:spcBef>
              <a:defRPr sz="400"/>
            </a:pPr>
          </a:p>
          <a:p>
            <a:pPr>
              <a:spcBef>
                <a:spcPts val="600"/>
              </a:spcBef>
              <a:defRPr sz="1300"/>
            </a:pPr>
            <a:r>
              <a:t>  Emotion words:          human-partner ~52/10K,  AI-partner ~47/10K,  ratio ~1.1</a:t>
            </a:r>
          </a:p>
          <a:p>
            <a:pPr>
              <a:spcBef>
                <a:spcPts val="600"/>
              </a:spcBef>
              <a:defRPr sz="1300"/>
            </a:pPr>
            <a:r>
              <a:t>  Mental-state words:     human-partner ~89/10K,  AI-partner ~82/10K,  ratio ~1.1</a:t>
            </a:r>
          </a:p>
          <a:p>
            <a:pPr>
              <a:spcBef>
                <a:spcPts val="600"/>
              </a:spcBef>
              <a:defRPr sz="1300"/>
            </a:pPr>
            <a:r>
              <a:t>  Embodiment words:       human-partner ~12/10K,  AI-partner ~11/10K,  ratio ~1.1</a:t>
            </a:r>
          </a:p>
          <a:p>
            <a:pPr>
              <a:spcBef>
                <a:spcPts val="600"/>
              </a:spcBef>
              <a:defRPr sz="1300"/>
            </a:pPr>
            <a:r>
              <a:t>  Formal/technical words: human-partner ~18/10K,  AI-partner ~19/10K,  ratio ~0.95</a:t>
            </a:r>
          </a:p>
          <a:p>
            <a:pPr>
              <a:spcBef>
                <a:spcPts val="600"/>
              </a:spcBef>
              <a:defRPr sz="1300" b="1">
                <a:solidFill>
                  <a:srgbClr val="C44E52"/>
                </a:solidFill>
              </a:defRPr>
            </a:pPr>
            <a:r>
              <a:t>  Identity labels:        human-partner ~5/10K,   AI-partner ~28/10K,  ratio ~0.18</a:t>
            </a:r>
          </a:p>
          <a:p>
            <a:pPr>
              <a:spcBef>
                <a:spcPts val="600"/>
              </a:spcBef>
              <a:defRPr sz="800"/>
            </a:pPr>
          </a:p>
          <a:p>
            <a:pPr>
              <a:spcBef>
                <a:spcPts val="600"/>
              </a:spcBef>
              <a:defRPr sz="1600" b="1">
                <a:solidFill>
                  <a:srgbClr val="55A868"/>
                </a:solidFill>
              </a:defRPr>
            </a:pPr>
            <a:r>
              <a:t>Content vocabulary (emotions, mental states, etc.) is BALANCED across conditions.</a:t>
            </a:r>
          </a:p>
          <a:p>
            <a:pPr>
              <a:spcBef>
                <a:spcPts val="600"/>
              </a:spcBef>
              <a:defRPr sz="1400"/>
            </a:pPr>
            <a:r>
              <a:t>Only identity labels are strongly asymmetric (expected — AI convos mention 'AI' more).</a:t>
            </a:r>
          </a:p>
          <a:p>
            <a:pPr>
              <a:spcBef>
                <a:spcPts val="600"/>
              </a:spcBef>
              <a:defRPr sz="1400" b="1"/>
            </a:pPr>
            <a:r>
              <a:t>The probe is NOT a word-frequency detector for emotion/mental vocabulary.</a:t>
            </a:r>
          </a:p>
          <a:p>
            <a:pPr>
              <a:spcBef>
                <a:spcPts val="600"/>
              </a:spcBef>
              <a:defRPr sz="600"/>
            </a:pPr>
          </a:p>
          <a:p>
            <a:pPr>
              <a:spcBef>
                <a:spcPts val="600"/>
              </a:spcBef>
              <a:defRPr sz="1200">
                <a:solidFill>
                  <a:srgbClr val="666666"/>
                </a:solidFill>
              </a:defRPr>
            </a:pPr>
            <a:r>
              <a:t>Code: vocab_asymmetry_check.py  |  Data: combined_all.csv (Exp 2)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4C72B0"/>
                </a:solidFill>
              </a:defRPr>
            </a:pPr>
            <a:r>
              <a:t>All Dimensions Ranked by Alignment</a:t>
            </a:r>
          </a:p>
        </p:txBody>
      </p:sp>
      <p:pic>
        <p:nvPicPr>
          <p:cNvPr id="3" name="Picture 2" descr="fig_alignment_rank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8229600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7607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i="1">
                <a:solidFill>
                  <a:srgbClr val="666666"/>
                </a:solidFill>
              </a:defRPr>
            </a:pPr>
            <a:r>
              <a:t>The hierarchy (Mental &gt; Physical &gt; Pragmatic &gt; Shapes/Formality) reflects conceptual relevance to human/AI identity, not vocabulary properties.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4C72B0"/>
                </a:solidFill>
              </a:defRPr>
            </a:pPr>
            <a:r>
              <a:t>Summary: Six Lines of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500" b="1"/>
            </a:pPr>
            <a:r>
              <a:t>1. Lexical Distinctiveness</a:t>
            </a:r>
          </a:p>
          <a:p>
            <a:pPr>
              <a:spcBef>
                <a:spcPts val="600"/>
              </a:spcBef>
              <a:defRPr sz="1300"/>
            </a:pPr>
            <a:r>
              <a:t>   No correlation with alignment (rho = 0.34, p = 0.17)</a:t>
            </a:r>
          </a:p>
          <a:p>
            <a:pPr>
              <a:spcBef>
                <a:spcPts val="600"/>
              </a:spcBef>
              <a:defRPr sz="1500" b="1"/>
            </a:pPr>
            <a:r>
              <a:t>2. Entity Contamination</a:t>
            </a:r>
          </a:p>
          <a:p>
            <a:pPr>
              <a:spcBef>
                <a:spcPts val="600"/>
              </a:spcBef>
              <a:defRPr sz="1300"/>
            </a:pPr>
            <a:r>
              <a:t>   Correlated (rho = 0.66, p = 0.003) but expected — entity words carry meaning</a:t>
            </a:r>
          </a:p>
          <a:p>
            <a:pPr>
              <a:spcBef>
                <a:spcPts val="600"/>
              </a:spcBef>
              <a:defRPr sz="1500" b="1"/>
            </a:pPr>
            <a:r>
              <a:t>3. Layer Profiles</a:t>
            </a:r>
          </a:p>
          <a:p>
            <a:pPr>
              <a:spcBef>
                <a:spcPts val="600"/>
              </a:spcBef>
              <a:defRPr sz="1300"/>
            </a:pPr>
            <a:r>
              <a:t>   Alignment peaks in late layers (25-40), not early (lexical) layers</a:t>
            </a:r>
          </a:p>
          <a:p>
            <a:pPr>
              <a:spcBef>
                <a:spcPts val="600"/>
              </a:spcBef>
              <a:defRPr sz="1500" b="1"/>
            </a:pPr>
            <a:r>
              <a:t>4. Standalone Activations</a:t>
            </a:r>
          </a:p>
          <a:p>
            <a:pPr>
              <a:spcBef>
                <a:spcPts val="600"/>
              </a:spcBef>
              <a:defRPr sz="1300"/>
            </a:pPr>
            <a:r>
              <a:t>   No entity words; relative ranking matches contrast analysis</a:t>
            </a:r>
          </a:p>
          <a:p>
            <a:pPr>
              <a:spcBef>
                <a:spcPts val="600"/>
              </a:spcBef>
              <a:defRPr sz="1500" b="1"/>
            </a:pPr>
            <a:r>
              <a:t>5. Diagnostic Dimensions</a:t>
            </a:r>
          </a:p>
          <a:p>
            <a:pPr>
              <a:spcBef>
                <a:spcPts val="600"/>
              </a:spcBef>
              <a:defRPr sz="1300"/>
            </a:pPr>
            <a:r>
              <a:t>   Formality: diff vocab + no alignment. Shapes: no entity + no alignment.</a:t>
            </a:r>
          </a:p>
          <a:p>
            <a:pPr>
              <a:spcBef>
                <a:spcPts val="600"/>
              </a:spcBef>
              <a:defRPr sz="1500" b="1"/>
            </a:pPr>
            <a:r>
              <a:t>6. Exp 2 Vocabulary</a:t>
            </a:r>
          </a:p>
          <a:p>
            <a:pPr>
              <a:spcBef>
                <a:spcPts val="600"/>
              </a:spcBef>
              <a:defRPr sz="1300"/>
            </a:pPr>
            <a:r>
              <a:t>   Concept-relevant words balanced across conditions (ratio ~1.1)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4C72B0"/>
                </a:solidFill>
              </a:defRPr>
            </a:pPr>
            <a:r>
              <a:t>Conclusion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97280"/>
            <a:ext cx="8046720" cy="475488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4C72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spcAft>
                <a:spcPts val="1200"/>
              </a:spcAft>
              <a:defRPr sz="2000" b="1">
                <a:solidFill>
                  <a:srgbClr val="2C2C2C"/>
                </a:solidFill>
              </a:defRPr>
            </a:pPr>
            <a:r>
              <a:t>Lexical overlap is a minor caveat, not a serious threat.</a:t>
            </a:r>
          </a:p>
          <a:p>
            <a:pPr>
              <a:spcBef>
                <a:spcPts val="600"/>
              </a:spcBef>
              <a:defRPr sz="1400">
                <a:solidFill>
                  <a:srgbClr val="2C2C2C"/>
                </a:solidFill>
              </a:defRPr>
            </a:pPr>
            <a:r>
              <a:t>Vocabulary distinctiveness does not predict alignment strength.</a:t>
            </a:r>
          </a:p>
          <a:p>
            <a:pPr>
              <a:spcBef>
                <a:spcPts val="600"/>
              </a:spcBef>
              <a:defRPr sz="1400">
                <a:solidFill>
                  <a:srgbClr val="2C2C2C"/>
                </a:solidFill>
              </a:defRPr>
            </a:pPr>
            <a:r>
              <a:t>Alignment concentrates in late model layers, not early (lexical) layers.</a:t>
            </a:r>
          </a:p>
          <a:p>
            <a:pPr>
              <a:spcBef>
                <a:spcPts val="600"/>
              </a:spcBef>
              <a:defRPr sz="1400">
                <a:solidFill>
                  <a:srgbClr val="2C2C2C"/>
                </a:solidFill>
              </a:defRPr>
            </a:pPr>
            <a:r>
              <a:t>Standalone prompts with no entity words still show differential patterns.</a:t>
            </a:r>
          </a:p>
          <a:p>
            <a:pPr>
              <a:spcBef>
                <a:spcPts val="600"/>
              </a:spcBef>
              <a:defRPr sz="1400">
                <a:solidFill>
                  <a:srgbClr val="2C2C2C"/>
                </a:solidFill>
              </a:defRPr>
            </a:pPr>
            <a:r>
              <a:t>Formality and Shapes (different vocab, no alignment) prove vocabulary</a:t>
            </a:r>
          </a:p>
          <a:p>
            <a:pPr>
              <a:spcBef>
                <a:spcPts val="600"/>
              </a:spcBef>
              <a:defRPr sz="1400">
                <a:solidFill>
                  <a:srgbClr val="2C2C2C"/>
                </a:solidFill>
              </a:defRPr>
            </a:pPr>
            <a:r>
              <a:t>  difference alone is not sufficient.</a:t>
            </a:r>
          </a:p>
          <a:p>
            <a:pPr>
              <a:spcBef>
                <a:spcPts val="600"/>
              </a:spcBef>
              <a:defRPr sz="1400">
                <a:solidFill>
                  <a:srgbClr val="2C2C2C"/>
                </a:solidFill>
              </a:defRPr>
            </a:pPr>
            <a:r>
              <a:t>Exp 2 conversation vocabulary is balanced for concept-relevant words.</a:t>
            </a:r>
          </a:p>
          <a:p>
            <a:pPr>
              <a:spcBef>
                <a:spcPts val="600"/>
              </a:spcBef>
              <a:defRPr sz="1400">
                <a:solidFill>
                  <a:srgbClr val="2C2C2C"/>
                </a:solidFill>
              </a:defRPr>
            </a:pPr>
          </a:p>
          <a:p>
            <a:pPr>
              <a:spcBef>
                <a:spcPts val="600"/>
              </a:spcBef>
              <a:defRPr sz="1400">
                <a:solidFill>
                  <a:srgbClr val="2C2C2C"/>
                </a:solidFill>
              </a:defRPr>
            </a:pPr>
            <a:r>
              <a:t>One legitimate caveat:</a:t>
            </a:r>
          </a:p>
          <a:p>
            <a:pPr>
              <a:spcBef>
                <a:spcPts val="600"/>
              </a:spcBef>
              <a:defRPr sz="1400">
                <a:solidFill>
                  <a:srgbClr val="2C2C2C"/>
                </a:solidFill>
              </a:defRPr>
            </a:pPr>
            <a:r>
              <a:t>  Entity word contamination correlates with alignment (rho = 0.66).</a:t>
            </a:r>
          </a:p>
          <a:p>
            <a:pPr>
              <a:spcBef>
                <a:spcPts val="600"/>
              </a:spcBef>
              <a:defRPr sz="1400">
                <a:solidFill>
                  <a:srgbClr val="2C2C2C"/>
                </a:solidFill>
              </a:defRPr>
            </a:pPr>
            <a:r>
              <a:t>  Some portion of the signal may come from entity-word matching,</a:t>
            </a:r>
          </a:p>
          <a:p>
            <a:pPr>
              <a:spcBef>
                <a:spcPts val="600"/>
              </a:spcBef>
              <a:defRPr sz="1400">
                <a:solidFill>
                  <a:srgbClr val="2C2C2C"/>
                </a:solidFill>
              </a:defRPr>
            </a:pPr>
            <a:r>
              <a:t>  but this is expected: entity words ARE part of the concept specification.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4C72B0"/>
                </a:solidFill>
              </a:defRPr>
            </a:pPr>
            <a:r>
              <a:t>Remaining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 b="1"/>
            </a:pPr>
            <a:r>
              <a:t>1. Can we quantify the entity-word contribution?</a:t>
            </a:r>
          </a:p>
          <a:p>
            <a:pPr>
              <a:spcBef>
                <a:spcPts val="600"/>
              </a:spcBef>
              <a:defRPr sz="1400"/>
            </a:pPr>
            <a:r>
              <a:t>   A residual analysis (regress out entity contamination, test remaining</a:t>
            </a:r>
          </a:p>
          <a:p>
            <a:pPr>
              <a:spcBef>
                <a:spcPts val="600"/>
              </a:spcBef>
              <a:defRPr sz="1400"/>
            </a:pPr>
            <a:r>
              <a:t>   alignment) could decompose the signal into entity vs. conceptual components.</a:t>
            </a:r>
          </a:p>
          <a:p>
            <a:pPr>
              <a:spcBef>
                <a:spcPts val="600"/>
              </a:spcBef>
              <a:defRPr sz="800"/>
            </a:pPr>
          </a:p>
          <a:p>
            <a:pPr>
              <a:spcBef>
                <a:spcPts val="600"/>
              </a:spcBef>
              <a:defRPr sz="1600" b="1"/>
            </a:pPr>
            <a:r>
              <a:t>2. Does the standalone baseline offset have a lexical explanation?</a:t>
            </a:r>
          </a:p>
          <a:p>
            <a:pPr>
              <a:spcBef>
                <a:spcPts val="600"/>
              </a:spcBef>
              <a:defRPr sz="1400"/>
            </a:pPr>
            <a:r>
              <a:t>   All standalone prompts project to the AI side. Is this because short</a:t>
            </a:r>
          </a:p>
          <a:p>
            <a:pPr>
              <a:spcBef>
                <a:spcPts val="600"/>
              </a:spcBef>
              <a:defRPr sz="1400"/>
            </a:pPr>
            <a:r>
              <a:t>   instructional text shares surface properties with AI-partner conversations?</a:t>
            </a:r>
          </a:p>
          <a:p>
            <a:pPr>
              <a:spcBef>
                <a:spcPts val="600"/>
              </a:spcBef>
              <a:defRPr sz="800"/>
            </a:pPr>
          </a:p>
          <a:p>
            <a:pPr>
              <a:spcBef>
                <a:spcPts val="600"/>
              </a:spcBef>
              <a:defRPr sz="1600" b="1"/>
            </a:pPr>
            <a:r>
              <a:t>3. What drives the reading probe vs. control probe differences?</a:t>
            </a:r>
          </a:p>
          <a:p>
            <a:pPr>
              <a:spcBef>
                <a:spcPts val="600"/>
              </a:spcBef>
              <a:defRPr sz="1400"/>
            </a:pPr>
            <a:r>
              <a:t>   The reading probe uses a synthetic prompt never seen in training.</a:t>
            </a:r>
          </a:p>
          <a:p>
            <a:pPr>
              <a:spcBef>
                <a:spcPts val="600"/>
              </a:spcBef>
              <a:defRPr sz="1400"/>
            </a:pPr>
            <a:r>
              <a:t>   Does it access different information than the control probe?</a:t>
            </a:r>
          </a:p>
          <a:p>
            <a:pPr>
              <a:spcBef>
                <a:spcPts val="600"/>
              </a:spcBef>
              <a:defRPr sz="800"/>
            </a:pPr>
          </a:p>
          <a:p>
            <a:pPr>
              <a:spcBef>
                <a:spcPts val="600"/>
              </a:spcBef>
              <a:defRPr sz="1600" b="1"/>
            </a:pPr>
            <a:r>
              <a:t>4. What role does the system prompt play?</a:t>
            </a:r>
          </a:p>
          <a:p>
            <a:pPr>
              <a:spcBef>
                <a:spcPts val="600"/>
              </a:spcBef>
              <a:defRPr sz="1400"/>
            </a:pPr>
            <a:r>
              <a:t>   Exp 2 system prompts explicitly state partner identity.</a:t>
            </a:r>
          </a:p>
          <a:p>
            <a:pPr>
              <a:spcBef>
                <a:spcPts val="600"/>
              </a:spcBef>
              <a:defRPr sz="1400"/>
            </a:pPr>
            <a:r>
              <a:t>   How much of the probe signal comes from system prompt vs. conversation?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4C72B0"/>
                </a:solidFill>
              </a:defRPr>
            </a:pPr>
            <a:r>
              <a:t>Data Sources and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 b="1"/>
            </a:pPr>
            <a:r>
              <a:t>Scripts:</a:t>
            </a:r>
          </a:p>
          <a:p>
            <a:pPr>
              <a:spcBef>
                <a:spcPts val="600"/>
              </a:spcBef>
              <a:defRPr sz="1200"/>
            </a:pPr>
            <a:r>
              <a:t>  lexical_distinctiveness.py — Jaccard, entity contamination, correlations</a:t>
            </a:r>
          </a:p>
          <a:p>
            <a:pPr>
              <a:spcBef>
                <a:spcPts val="600"/>
              </a:spcBef>
              <a:defRPr sz="1200"/>
            </a:pPr>
            <a:r>
              <a:t>  vocab_asymmetry_check.py — Exp 2 conversation vocabulary analysis</a:t>
            </a:r>
          </a:p>
          <a:p>
            <a:pPr>
              <a:spcBef>
                <a:spcPts val="600"/>
              </a:spcBef>
              <a:defRPr sz="1200"/>
            </a:pPr>
            <a:r>
              <a:t>  2d_concept_probe_stats.py — contrast alignment (permutation tests)</a:t>
            </a:r>
          </a:p>
          <a:p>
            <a:pPr>
              <a:spcBef>
                <a:spcPts val="600"/>
              </a:spcBef>
              <a:defRPr sz="1200"/>
            </a:pPr>
            <a:r>
              <a:t>  2e_concept_probe_figures.py — contrast figures</a:t>
            </a:r>
          </a:p>
          <a:p>
            <a:pPr>
              <a:spcBef>
                <a:spcPts val="600"/>
              </a:spcBef>
              <a:defRPr sz="1200"/>
            </a:pPr>
            <a:r>
              <a:t>  3a_standalone_stats.py — standalone alignment (bootstrap tests)</a:t>
            </a:r>
          </a:p>
          <a:p>
            <a:pPr>
              <a:spcBef>
                <a:spcPts val="600"/>
              </a:spcBef>
              <a:defRPr sz="1200"/>
            </a:pPr>
            <a:r>
              <a:t>  3b_standalone_figures.py — standalone figures</a:t>
            </a:r>
          </a:p>
          <a:p>
            <a:pPr>
              <a:spcBef>
                <a:spcPts val="600"/>
              </a:spcBef>
              <a:defRPr sz="1200"/>
            </a:pPr>
            <a:r>
              <a:t>  build_lexical_overlap_report.py — generates HTML report + new figures</a:t>
            </a:r>
          </a:p>
          <a:p>
            <a:pPr>
              <a:spcBef>
                <a:spcPts val="600"/>
              </a:spcBef>
              <a:defRPr sz="1200"/>
            </a:pPr>
            <a:r>
              <a:t>  build_lexical_overlap_pptx.py — generates this PowerPoint</a:t>
            </a:r>
          </a:p>
          <a:p>
            <a:pPr>
              <a:spcBef>
                <a:spcPts val="600"/>
              </a:spcBef>
              <a:defRPr sz="800"/>
            </a:pPr>
          </a:p>
          <a:p>
            <a:pPr>
              <a:spcBef>
                <a:spcPts val="600"/>
              </a:spcBef>
              <a:defRPr sz="1600" b="1"/>
            </a:pPr>
            <a:r>
              <a:t>Data Files:</a:t>
            </a:r>
          </a:p>
          <a:p>
            <a:pPr>
              <a:spcBef>
                <a:spcPts val="600"/>
              </a:spcBef>
              <a:defRPr sz="1200"/>
            </a:pPr>
            <a:r>
              <a:t>  results/concept_probe_alignment/summaries/lexical_distinctiveness.csv</a:t>
            </a:r>
          </a:p>
          <a:p>
            <a:pPr>
              <a:spcBef>
                <a:spcPts val="600"/>
              </a:spcBef>
              <a:defRPr sz="1200"/>
            </a:pPr>
            <a:r>
              <a:t>  results/concept_probe_alignment/summaries/alignment_stats.json</a:t>
            </a:r>
          </a:p>
          <a:p>
            <a:pPr>
              <a:spcBef>
                <a:spcPts val="600"/>
              </a:spcBef>
              <a:defRPr sz="1200"/>
            </a:pPr>
            <a:r>
              <a:t>  results/standalone_alignment/summaries/standalone_alignment_stats.json</a:t>
            </a:r>
          </a:p>
          <a:p>
            <a:pPr>
              <a:spcBef>
                <a:spcPts val="600"/>
              </a:spcBef>
              <a:defRPr sz="1200"/>
            </a:pPr>
            <a:r>
              <a:t>  data/concept_activations/contrasts/{dim}/concept_prompts.json</a:t>
            </a:r>
          </a:p>
          <a:p>
            <a:pPr>
              <a:spcBef>
                <a:spcPts val="600"/>
              </a:spcBef>
              <a:defRPr sz="1200"/>
            </a:pPr>
            <a:r>
              <a:t>  data/concept_activations/standalone/{dim}/concept_prompts.json</a:t>
            </a:r>
          </a:p>
          <a:p>
            <a:pPr>
              <a:spcBef>
                <a:spcPts val="600"/>
              </a:spcBef>
              <a:defRPr sz="600"/>
            </a:pPr>
          </a:p>
          <a:p>
            <a:pPr>
              <a:spcBef>
                <a:spcPts val="600"/>
              </a:spcBef>
              <a:defRPr sz="1100">
                <a:solidFill>
                  <a:srgbClr val="666666"/>
                </a:solidFill>
              </a:defRPr>
            </a:pPr>
            <a:r>
              <a:t>All paths relative to: llama_exp_3-13B-chat/</a:t>
            </a:r>
          </a:p>
          <a:p>
            <a:pPr>
              <a:spcBef>
                <a:spcPts val="600"/>
              </a:spcBef>
              <a:defRPr sz="1100">
                <a:solidFill>
                  <a:srgbClr val="666666"/>
                </a:solidFill>
              </a:defRPr>
            </a:pPr>
            <a:r>
              <a:t>Exp 2 probes trained on: llama_exp_2b-13B-chat/data/.../s###.csv (non-clean files)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